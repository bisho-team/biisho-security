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iisho Companylogo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2920"/>
            <a:ext cx="1828800" cy="10214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874519"/>
            <a:ext cx="2011680" cy="310896"/>
          </a:xfrm>
          <a:prstGeom prst="roundRect">
            <a:avLst>
              <a:gd name="adj" fmla="val 12000"/>
            </a:avLst>
          </a:prstGeom>
          <a:solidFill>
            <a:srgbClr val="344253"/>
          </a:solidFill>
          <a:ln>
            <a:solidFill>
              <a:srgbClr val="34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1"/>
            <a:ext cx="20116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BC97"/>
                </a:solidFill>
                <a:latin typeface="Aptos"/>
              </a:rPr>
              <a:t>CLIENT &amp; STAKEHOLDER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6583680" cy="1371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Aptos Display"/>
              </a:rPr>
              <a:t>From alert
to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566928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2EB"/>
                </a:solidFill>
                <a:latin typeface="Aptos"/>
              </a:rPr>
              <a:t>Smart security operations for a safer, more accountable world.</a:t>
            </a:r>
          </a:p>
        </p:txBody>
      </p:sp>
      <p:sp>
        <p:nvSpPr>
          <p:cNvPr id="9" name="Oval 8"/>
          <p:cNvSpPr/>
          <p:nvPr/>
        </p:nvSpPr>
        <p:spPr>
          <a:xfrm>
            <a:off x="7635240" y="822960"/>
            <a:ext cx="2194560" cy="2194560"/>
          </a:xfrm>
          <a:prstGeom prst="ellipse">
            <a:avLst/>
          </a:prstGeom>
          <a:noFill/>
          <a:ln w="25400">
            <a:solidFill>
              <a:srgbClr val="2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32420" y="1120140"/>
            <a:ext cx="1600200" cy="1600200"/>
          </a:xfrm>
          <a:prstGeom prst="ellipse">
            <a:avLst/>
          </a:prstGeom>
          <a:noFill/>
          <a:ln w="25400">
            <a:solidFill>
              <a:srgbClr val="374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1417320"/>
            <a:ext cx="1005840" cy="1005840"/>
          </a:xfrm>
          <a:prstGeom prst="ellipse">
            <a:avLst/>
          </a:prstGeom>
          <a:noFill/>
          <a:ln w="25400"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76488" y="1664208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709928"/>
            <a:ext cx="512064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19088"/>
            <a:ext cx="27432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BIISHO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iisho Companylogo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6895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81F"/>
                </a:solidFill>
                <a:latin typeface="Aptos"/>
              </a:rPr>
              <a:t>01  /  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D30"/>
                </a:solidFill>
                <a:latin typeface="Aptos Display"/>
              </a:rPr>
              <a:t>Security operations should not depend on scattered updates.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987552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C7D"/>
                </a:solidFill>
                <a:latin typeface="Aptos"/>
              </a:rPr>
              <a:t>When an incident happens, every minute and every handoff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4290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64008" cy="2057400"/>
          </a:xfrm>
          <a:prstGeom prst="rect">
            <a:avLst/>
          </a:prstGeom>
          <a:solidFill>
            <a:srgbClr val="CC443E"/>
          </a:solidFill>
          <a:ln>
            <a:solidFill>
              <a:srgbClr val="CC4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306324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Fragmented communication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15768"/>
            <a:ext cx="3017520" cy="1399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Calls, messages, spreadsheets, and manual follow-up make it harder to see the complete picture.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290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64008" cy="2057400"/>
          </a:xfrm>
          <a:prstGeom prst="rect">
            <a:avLst/>
          </a:prstGeom>
          <a:solidFill>
            <a:srgbClr val="E2962F"/>
          </a:solidFill>
          <a:ln>
            <a:solidFill>
              <a:srgbClr val="E29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350008"/>
            <a:ext cx="306324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Limited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15768"/>
            <a:ext cx="3017520" cy="1399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Teams need a shared view of locations, people, severity, ownership, and current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48840"/>
            <a:ext cx="34290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148840"/>
            <a:ext cx="64008" cy="2057400"/>
          </a:xfrm>
          <a:prstGeom prst="rect">
            <a:avLst/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350008"/>
            <a:ext cx="306324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Unclear accountability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715768"/>
            <a:ext cx="3017520" cy="1399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Without a structured record, it is difficult to prove what happened, who acted, and what improved.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83480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1D30"/>
                </a:solidFill>
                <a:latin typeface="Aptos Display"/>
              </a:rPr>
              <a:t>The result: avoidable delay, duplicated effort, and lower confidence for clients and leaders.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B6C7D"/>
                </a:solidFill>
                <a:latin typeface="Aptos"/>
              </a:rPr>
              <a:t>BIISHO  /  SMART SECURITY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C7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iisho Companylogo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6895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81F"/>
                </a:solidFill>
                <a:latin typeface="Aptos"/>
              </a:rPr>
              <a:t>02  /  THE BIISHO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D30"/>
                </a:solidFill>
                <a:latin typeface="Aptos Display"/>
              </a:rPr>
              <a:t>One connected operating picture.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987552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C7D"/>
                </a:solidFill>
                <a:latin typeface="Aptos"/>
              </a:rPr>
              <a:t>Biisho brings the people, places, incidents, and decisions involved in a response process into one controlled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1828800" cy="658368"/>
          </a:xfrm>
          <a:prstGeom prst="roundRect">
            <a:avLst>
              <a:gd name="adj" fmla="val 12000"/>
            </a:avLst>
          </a:prstGeom>
          <a:solidFill>
            <a:srgbClr val="FFEEE4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889504"/>
            <a:ext cx="1682496" cy="4754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2681F"/>
                </a:solidFill>
                <a:latin typeface="Aptos"/>
              </a:rPr>
              <a:t>Protected
locations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743200"/>
            <a:ext cx="1828800" cy="658368"/>
          </a:xfrm>
          <a:prstGeom prst="roundRect">
            <a:avLst>
              <a:gd name="adj" fmla="val 12000"/>
            </a:avLst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2889504"/>
            <a:ext cx="1682496" cy="4754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Live alarm
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743200"/>
            <a:ext cx="1828800" cy="658368"/>
          </a:xfrm>
          <a:prstGeom prst="roundRect">
            <a:avLst>
              <a:gd name="adj" fmla="val 12000"/>
            </a:avLst>
          </a:prstGeom>
          <a:solidFill>
            <a:srgbClr val="FFEEE4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0952" y="2889504"/>
            <a:ext cx="1682496" cy="4754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2681F"/>
                </a:solidFill>
                <a:latin typeface="Aptos"/>
              </a:rPr>
              <a:t>Response
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743200"/>
            <a:ext cx="1828800" cy="658368"/>
          </a:xfrm>
          <a:prstGeom prst="roundRect">
            <a:avLst>
              <a:gd name="adj" fmla="val 12000"/>
            </a:avLst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2889504"/>
            <a:ext cx="1682496" cy="4754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Resolution
record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2743200"/>
            <a:ext cx="1645920" cy="658368"/>
          </a:xfrm>
          <a:prstGeom prst="roundRect">
            <a:avLst>
              <a:gd name="adj" fmla="val 12000"/>
            </a:avLst>
          </a:prstGeom>
          <a:solidFill>
            <a:srgbClr val="FFEEE4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11512" y="2889504"/>
            <a:ext cx="1499616" cy="4754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2681F"/>
                </a:solidFill>
                <a:latin typeface="Aptos"/>
              </a:rPr>
              <a:t>Insight &amp;
learning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06040" y="3072384"/>
            <a:ext cx="384048" cy="0"/>
          </a:xfrm>
          <a:prstGeom prst="line">
            <a:avLst/>
          </a:prstGeom>
          <a:ln w="25400">
            <a:solidFill>
              <a:srgbClr val="F26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46320" y="3072384"/>
            <a:ext cx="384048" cy="0"/>
          </a:xfrm>
          <a:prstGeom prst="line">
            <a:avLst/>
          </a:prstGeom>
          <a:ln w="25400">
            <a:solidFill>
              <a:srgbClr val="F26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86600" y="3072384"/>
            <a:ext cx="384048" cy="0"/>
          </a:xfrm>
          <a:prstGeom prst="line">
            <a:avLst/>
          </a:prstGeom>
          <a:ln w="25400">
            <a:solidFill>
              <a:srgbClr val="F26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26880" y="3072384"/>
            <a:ext cx="384048" cy="0"/>
          </a:xfrm>
          <a:prstGeom prst="line">
            <a:avLst/>
          </a:prstGeom>
          <a:ln w="25400">
            <a:solidFill>
              <a:srgbClr val="F26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7552" y="3794760"/>
            <a:ext cx="1371600" cy="310896"/>
          </a:xfrm>
          <a:prstGeom prst="roundRect">
            <a:avLst>
              <a:gd name="adj" fmla="val 12000"/>
            </a:avLst>
          </a:prstGeom>
          <a:solidFill>
            <a:srgbClr val="FFEEE4"/>
          </a:solidFill>
          <a:ln>
            <a:solidFill>
              <a:srgbClr val="FF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822192"/>
            <a:ext cx="13716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81F"/>
                </a:solidFill>
                <a:latin typeface="Aptos"/>
              </a:rPr>
              <a:t>DETECT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82112" y="3794760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FFEEE4"/>
          </a:solidFill>
          <a:ln>
            <a:solidFill>
              <a:srgbClr val="FF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3822192"/>
            <a:ext cx="15087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81F"/>
                </a:solidFill>
                <a:latin typeface="Aptos"/>
              </a:rPr>
              <a:t>COORDINATE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68112" y="3794760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FFEEE4"/>
          </a:solidFill>
          <a:ln>
            <a:solidFill>
              <a:srgbClr val="FF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68112" y="3822192"/>
            <a:ext cx="141732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81F"/>
                </a:solidFill>
                <a:latin typeface="Aptos"/>
              </a:rPr>
              <a:t>RESPOND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794760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FFEEE4"/>
          </a:solidFill>
          <a:ln>
            <a:solidFill>
              <a:srgbClr val="FF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62672" y="3822192"/>
            <a:ext cx="169164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81F"/>
                </a:solidFill>
                <a:latin typeface="Aptos"/>
              </a:rPr>
              <a:t>CLOSE THE LOOP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57232" y="3794760"/>
            <a:ext cx="1325880" cy="310896"/>
          </a:xfrm>
          <a:prstGeom prst="roundRect">
            <a:avLst>
              <a:gd name="adj" fmla="val 12000"/>
            </a:avLst>
          </a:prstGeom>
          <a:solidFill>
            <a:srgbClr val="FFEEE4"/>
          </a:solidFill>
          <a:ln>
            <a:solidFill>
              <a:srgbClr val="FF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57232" y="3822192"/>
            <a:ext cx="13258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81F"/>
                </a:solidFill>
                <a:latin typeface="Aptos"/>
              </a:rPr>
              <a:t>IMPROVE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937760"/>
            <a:ext cx="1024128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1D30"/>
                </a:solidFill>
                <a:latin typeface="Aptos Display"/>
              </a:rPr>
              <a:t>A practical workflow that turns security events into coordinated action and reliable records.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B6C7D"/>
                </a:solidFill>
                <a:latin typeface="Aptos"/>
              </a:rPr>
              <a:t>BIISHO  /  SMART SECURITY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C7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iisho Companylogo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6895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81F"/>
                </a:solidFill>
                <a:latin typeface="Aptos"/>
              </a:rPr>
              <a:t>03  / 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D30"/>
                </a:solidFill>
                <a:latin typeface="Aptos Display"/>
              </a:rPr>
              <a:t>From first alert to final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987552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C7D"/>
                </a:solidFill>
                <a:latin typeface="Aptos"/>
              </a:rPr>
              <a:t>Every incident follows a clear path, with the right context available at each 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2331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254203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651760"/>
            <a:ext cx="475488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24612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Create alarm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611880"/>
            <a:ext cx="1874519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Capture type, severity, location, branch, and notes.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90672" y="3255264"/>
            <a:ext cx="338328" cy="0"/>
          </a:xfrm>
          <a:prstGeom prst="line">
            <a:avLst/>
          </a:prstGeom>
          <a:ln w="25400">
            <a:solidFill>
              <a:srgbClr val="F26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39" y="2331720"/>
            <a:ext cx="2331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21607" y="254203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7" y="2651760"/>
            <a:ext cx="475488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7" y="324612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Notify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7" y="3611880"/>
            <a:ext cx="1874519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The incident becomes visible to permitted response teams.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79592" y="3255264"/>
            <a:ext cx="338328" cy="0"/>
          </a:xfrm>
          <a:prstGeom prst="line">
            <a:avLst/>
          </a:prstGeom>
          <a:ln w="25400">
            <a:solidFill>
              <a:srgbClr val="F26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59" y="2331720"/>
            <a:ext cx="2331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10527" y="254203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7" y="2651760"/>
            <a:ext cx="475488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7" y="324612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Acknowledge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7" y="3611880"/>
            <a:ext cx="1874519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A responder takes ownership and records progress.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68512" y="3255264"/>
            <a:ext cx="338328" cy="0"/>
          </a:xfrm>
          <a:prstGeom prst="line">
            <a:avLst/>
          </a:prstGeom>
          <a:ln w="25400">
            <a:solidFill>
              <a:srgbClr val="F26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98280" y="2331720"/>
            <a:ext cx="2331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99448" y="254203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2651760"/>
            <a:ext cx="475488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324612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Resolve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3611880"/>
            <a:ext cx="1874519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The outcome is documented for reporting and learning.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83480"/>
            <a:ext cx="1060704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2681F"/>
                </a:solidFill>
                <a:latin typeface="Aptos Display"/>
              </a:rPr>
              <a:t>Clear statuses. Clear ownership. A complete record.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B6C7D"/>
                </a:solidFill>
                <a:latin typeface="Aptos"/>
              </a:rPr>
              <a:t>BIISHO  /  SMART SECURITY OPERATIONS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C7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iisho Companylogo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6895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81F"/>
                </a:solidFill>
                <a:latin typeface="Aptos"/>
              </a:rPr>
              <a:t>04  /  ROLE-BASED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D30"/>
                </a:solidFill>
                <a:latin typeface="Aptos Display"/>
              </a:rPr>
              <a:t>Focused workspaces for every responsibility.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987552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C7D"/>
                </a:solidFill>
                <a:latin typeface="Aptos"/>
              </a:rPr>
              <a:t>Biisho keeps each user focused on the decisions and actions relevant to their role.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33832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64008" cy="1234440"/>
          </a:xfrm>
          <a:prstGeom prst="rect">
            <a:avLst/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30175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Super Administrator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2971800" cy="5760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Platform-wide governance, companies, users, settings, alarms, and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240280"/>
            <a:ext cx="33832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240280"/>
            <a:ext cx="64008" cy="1234440"/>
          </a:xfrm>
          <a:prstGeom prst="rect">
            <a:avLst/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441448"/>
            <a:ext cx="30175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Office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807208"/>
            <a:ext cx="2971800" cy="5760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Branches, office operators, alarms, and internal operational reporting.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240280"/>
            <a:ext cx="33832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2240280"/>
            <a:ext cx="64008" cy="1234440"/>
          </a:xfrm>
          <a:prstGeom prst="rect">
            <a:avLst/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441448"/>
            <a:ext cx="30175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Police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807208"/>
            <a:ext cx="2971800" cy="5760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Response queue, police operators, pending work, and performance oversight.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86200"/>
            <a:ext cx="33832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886200"/>
            <a:ext cx="64008" cy="1234440"/>
          </a:xfrm>
          <a:prstGeom prst="rect">
            <a:avLst/>
          </a:prstGeom>
          <a:solidFill>
            <a:srgbClr val="E2962F"/>
          </a:solidFill>
          <a:ln>
            <a:solidFill>
              <a:srgbClr val="E29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87368"/>
            <a:ext cx="30175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Office Operator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53128"/>
            <a:ext cx="2971800" cy="5760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Front-line monitoring and immediate escalation for permitted locations.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886200"/>
            <a:ext cx="33832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886200"/>
            <a:ext cx="64008" cy="1234440"/>
          </a:xfrm>
          <a:prstGeom prst="rect">
            <a:avLst/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087368"/>
            <a:ext cx="30175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Police Operator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453128"/>
            <a:ext cx="2971800" cy="5760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Assigned response reports, progress updates, and resolution details.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B6C7D"/>
                </a:solidFill>
                <a:latin typeface="Aptos"/>
              </a:rPr>
              <a:t>BIISHO  /  SMART SECURITY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C7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iisho Companylogo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6895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81F"/>
                </a:solidFill>
                <a:latin typeface="Aptos"/>
              </a:rPr>
              <a:t>05  / 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D30"/>
                </a:solidFill>
                <a:latin typeface="Aptos Display"/>
              </a:rPr>
              <a:t>Built for the rhythm of real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987552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C7D"/>
                </a:solidFill>
                <a:latin typeface="Aptos"/>
              </a:rPr>
              <a:t>A connected set of capabilities supports daily readiness, active response, and management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64008" cy="1143000"/>
          </a:xfrm>
          <a:prstGeom prst="rect">
            <a:avLst/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30175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Live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2971800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Current alarms, workload, response status, activity, and connection health.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4884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148840"/>
            <a:ext cx="64008" cy="1143000"/>
          </a:xfrm>
          <a:prstGeom prst="rect">
            <a:avLst/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350008"/>
            <a:ext cx="30175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Alarm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715768"/>
            <a:ext cx="2971800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Create, search, filter, review, and track incidents by status and severity.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14884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2148840"/>
            <a:ext cx="64008" cy="1143000"/>
          </a:xfrm>
          <a:prstGeom prst="rect">
            <a:avLst/>
          </a:prstGeom>
          <a:solidFill>
            <a:srgbClr val="E2962F"/>
          </a:solidFill>
          <a:ln>
            <a:solidFill>
              <a:srgbClr val="E29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350008"/>
            <a:ext cx="30175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Location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715768"/>
            <a:ext cx="2971800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Organize companies, branches, contacts, addresses, and optional coordinates.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703320"/>
            <a:ext cx="64008" cy="1143000"/>
          </a:xfrm>
          <a:prstGeom prst="rect">
            <a:avLst/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04487"/>
            <a:ext cx="30175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Response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70248"/>
            <a:ext cx="2971800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Assign reports, capture acknowledgement, progress, completion, and notes.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70332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703320"/>
            <a:ext cx="64008" cy="1143000"/>
          </a:xfrm>
          <a:prstGeom prst="rect">
            <a:avLst/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904487"/>
            <a:ext cx="30175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Analytics &amp;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270248"/>
            <a:ext cx="2971800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See trends, volumes, workload, performance, and exportable summaries.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70332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3703320"/>
            <a:ext cx="64008" cy="1143000"/>
          </a:xfrm>
          <a:prstGeom prst="rect">
            <a:avLst/>
          </a:prstGeom>
          <a:solidFill>
            <a:srgbClr val="E2962F"/>
          </a:solidFill>
          <a:ln>
            <a:solidFill>
              <a:srgbClr val="E29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904487"/>
            <a:ext cx="30175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Account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270248"/>
            <a:ext cx="2971800" cy="4846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Manage profiles, passwords, access, and secure sign-out.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B6C7D"/>
                </a:solidFill>
                <a:latin typeface="Aptos"/>
              </a:rPr>
              <a:t>BIISHO  /  SMART SECURITY OPERATIONS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C7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iisho Companylogo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6895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81F"/>
                </a:solidFill>
                <a:latin typeface="Aptos"/>
              </a:rPr>
              <a:t>06  /  OPERATIONAL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 Display"/>
              </a:rPr>
              <a:t>See what needs attention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987552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CE6EE"/>
                </a:solidFill>
                <a:latin typeface="Aptos"/>
              </a:rPr>
              <a:t>Role-specific dashboards turn operational data into a shared view of risk, workload, and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10835640" cy="3246120"/>
          </a:xfrm>
          <a:prstGeom prst="roundRect">
            <a:avLst>
              <a:gd name="adj" fmla="val 12000"/>
            </a:avLst>
          </a:prstGeom>
          <a:solidFill>
            <a:srgbClr val="1B2C40"/>
          </a:solidFill>
          <a:ln>
            <a:solidFill>
              <a:srgbClr val="3A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514600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24364B"/>
          </a:solidFill>
          <a:ln>
            <a:solidFill>
              <a:srgbClr val="3E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670048"/>
            <a:ext cx="18288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ECCD8"/>
                </a:solidFill>
                <a:latin typeface="Aptos"/>
              </a:rPr>
              <a:t>Active alarms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907792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2681F"/>
                </a:solidFill>
                <a:latin typeface="Aptos Display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2514600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24364B"/>
          </a:solidFill>
          <a:ln>
            <a:solidFill>
              <a:srgbClr val="3E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670048"/>
            <a:ext cx="18288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ECCD8"/>
                </a:solidFill>
                <a:latin typeface="Aptos"/>
              </a:rPr>
              <a:t>Pending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907792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E2962F"/>
                </a:solidFill>
                <a:latin typeface="Aptos Display"/>
              </a:rPr>
              <a:t>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514600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24364B"/>
          </a:solidFill>
          <a:ln>
            <a:solidFill>
              <a:srgbClr val="3E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670048"/>
            <a:ext cx="18288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ECCD8"/>
                </a:solidFill>
                <a:latin typeface="Aptos"/>
              </a:rPr>
              <a:t>Resolved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07792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219167"/>
                </a:solidFill>
                <a:latin typeface="Aptos Display"/>
              </a:rPr>
              <a:t>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41663" y="2514600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24364B"/>
          </a:solidFill>
          <a:ln>
            <a:solidFill>
              <a:srgbClr val="3E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7967" y="2670048"/>
            <a:ext cx="18288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ECCD8"/>
                </a:solidFill>
                <a:latin typeface="Aptos"/>
              </a:rPr>
              <a:t>Avg.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7" y="2907792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80C0FF"/>
                </a:solidFill>
                <a:latin typeface="Aptos Display"/>
              </a:rPr>
              <a:t>08m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60520"/>
            <a:ext cx="237744" cy="594360"/>
          </a:xfrm>
          <a:prstGeom prst="roundRect">
            <a:avLst>
              <a:gd name="adj" fmla="val 12000"/>
            </a:avLst>
          </a:prstGeom>
          <a:solidFill>
            <a:srgbClr val="56748F"/>
          </a:solidFill>
          <a:ln>
            <a:solidFill>
              <a:srgbClr val="56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81912" y="3703320"/>
            <a:ext cx="237744" cy="1051560"/>
          </a:xfrm>
          <a:prstGeom prst="roundRect">
            <a:avLst>
              <a:gd name="adj" fmla="val 12000"/>
            </a:avLst>
          </a:prstGeom>
          <a:solidFill>
            <a:srgbClr val="56748F"/>
          </a:solidFill>
          <a:ln>
            <a:solidFill>
              <a:srgbClr val="56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020824" y="3977640"/>
            <a:ext cx="237744" cy="777240"/>
          </a:xfrm>
          <a:prstGeom prst="roundRect">
            <a:avLst>
              <a:gd name="adj" fmla="val 12000"/>
            </a:avLst>
          </a:prstGeom>
          <a:solidFill>
            <a:srgbClr val="56748F"/>
          </a:solidFill>
          <a:ln>
            <a:solidFill>
              <a:srgbClr val="56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459736" y="3200400"/>
            <a:ext cx="237744" cy="1554480"/>
          </a:xfrm>
          <a:prstGeom prst="roundRect">
            <a:avLst>
              <a:gd name="adj" fmla="val 12000"/>
            </a:avLst>
          </a:prstGeom>
          <a:solidFill>
            <a:srgbClr val="56748F"/>
          </a:solidFill>
          <a:ln>
            <a:solidFill>
              <a:srgbClr val="56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98648" y="3520440"/>
            <a:ext cx="237744" cy="1234440"/>
          </a:xfrm>
          <a:prstGeom prst="roundRect">
            <a:avLst>
              <a:gd name="adj" fmla="val 12000"/>
            </a:avLst>
          </a:prstGeom>
          <a:solidFill>
            <a:srgbClr val="56748F"/>
          </a:solidFill>
          <a:ln>
            <a:solidFill>
              <a:srgbClr val="56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37560" y="2834640"/>
            <a:ext cx="237744" cy="1920240"/>
          </a:xfrm>
          <a:prstGeom prst="roundRect">
            <a:avLst>
              <a:gd name="adj" fmla="val 12000"/>
            </a:avLst>
          </a:prstGeom>
          <a:solidFill>
            <a:srgbClr val="F2681F"/>
          </a:solidFill>
          <a:ln>
            <a:solidFill>
              <a:srgbClr val="56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76472" y="3337560"/>
            <a:ext cx="237744" cy="1417320"/>
          </a:xfrm>
          <a:prstGeom prst="roundRect">
            <a:avLst>
              <a:gd name="adj" fmla="val 12000"/>
            </a:avLst>
          </a:prstGeom>
          <a:solidFill>
            <a:srgbClr val="56748F"/>
          </a:solidFill>
          <a:ln>
            <a:solidFill>
              <a:srgbClr val="56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919472"/>
            <a:ext cx="27432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ECCD8"/>
                </a:solidFill>
                <a:latin typeface="Aptos"/>
              </a:rPr>
              <a:t>Incident volume / last 7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703320"/>
            <a:ext cx="402336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Main office / intrusion alert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3666744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2F4053"/>
          </a:solidFill>
          <a:ln>
            <a:solidFill>
              <a:srgbClr val="2F4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3694176"/>
            <a:ext cx="1143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C443E"/>
                </a:solidFill>
                <a:latin typeface="Aptos"/>
              </a:rPr>
              <a:t>Active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114800"/>
            <a:ext cx="402336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North branch / access issue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4078224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2F4053"/>
          </a:solidFill>
          <a:ln>
            <a:solidFill>
              <a:srgbClr val="2F4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4105656"/>
            <a:ext cx="1143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2962F"/>
                </a:solidFill>
                <a:latin typeface="Aptos"/>
              </a:rPr>
              <a:t>Acknowledged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526280"/>
            <a:ext cx="402336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Warehouse / false alarm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4489704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2F4053"/>
          </a:solidFill>
          <a:ln>
            <a:solidFill>
              <a:srgbClr val="2F4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4517136"/>
            <a:ext cx="114300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19167"/>
                </a:solidFill>
                <a:latin typeface="Aptos"/>
              </a:rPr>
              <a:t>Resolved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CDD7E0"/>
                </a:solidFill>
                <a:latin typeface="Aptos"/>
              </a:rPr>
              <a:t>BIISHO  /  SMART SECURITY OPERATIONS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DD7E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iisho Companylogo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6895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81F"/>
                </a:solidFill>
                <a:latin typeface="Aptos"/>
              </a:rPr>
              <a:t>07  / 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D30"/>
                </a:solidFill>
                <a:latin typeface="Aptos Display"/>
              </a:rPr>
              <a:t>Confidence that compounds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987552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C7D"/>
                </a:solidFill>
                <a:latin typeface="Aptos"/>
              </a:rPr>
              <a:t>Biisho makes the response process faster, clearer, and easier to improve.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681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148840"/>
            <a:ext cx="44805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Faster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478024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Real-time alerts and clear ownership reduce the distance between detection and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681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2148840"/>
            <a:ext cx="44805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Stronger accountability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2478024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Time-stamped records show what happened, who acted, and how it ended.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10712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681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3410712"/>
            <a:ext cx="44805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Better oversight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739896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Location, severity, status, and personnel context are visible together.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10712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681F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410712"/>
            <a:ext cx="44805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Scalable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3739896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A company-and-branch structure supports multiple organizations and sites.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72583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681F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4672583"/>
            <a:ext cx="44805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Less administration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5001768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Structured records and reports reduce manual logs and repetitive follow-up.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72583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681F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4672583"/>
            <a:ext cx="44805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D30"/>
                </a:solidFill>
                <a:latin typeface="Aptos"/>
              </a:rPr>
              <a:t>Continuous improvement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5001768"/>
            <a:ext cx="466344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Analytics reveal recurring issues, workload patterns, and response gaps.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B6C7D"/>
                </a:solidFill>
                <a:latin typeface="Aptos"/>
              </a:rPr>
              <a:t>BIISHO  /  SMART SECURITY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C7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iisho Companylogo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6895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81F"/>
                </a:solidFill>
                <a:latin typeface="Aptos"/>
              </a:rPr>
              <a:t>08  /  STAKEHOLDER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D30"/>
                </a:solidFill>
                <a:latin typeface="Aptos Display"/>
              </a:rPr>
              <a:t>One platform. Multiple wins.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987552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C7D"/>
                </a:solidFill>
                <a:latin typeface="Aptos"/>
              </a:rPr>
              <a:t>The same operating model creates value for clients, leaders, managers, and front-line responders.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1074420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85416"/>
            <a:ext cx="22860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D30"/>
                </a:solidFill>
                <a:latin typeface="Aptos"/>
              </a:rPr>
              <a:t>Clients &amp; site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185416"/>
            <a:ext cx="7543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Confidence that incidents are visible, assigned, tracked, and documented.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60904"/>
            <a:ext cx="1074420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22860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D30"/>
                </a:solidFill>
                <a:latin typeface="Aptos"/>
              </a:rPr>
              <a:t>Security leadership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788920"/>
            <a:ext cx="7543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A centralized view of risk, locations, people, activity, and trends.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64408"/>
            <a:ext cx="1074420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92424"/>
            <a:ext cx="22860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D30"/>
                </a:solidFill>
                <a:latin typeface="Aptos"/>
              </a:rPr>
              <a:t>Office managers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392424"/>
            <a:ext cx="7543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Practical control of branches, operators, alarms, and internal reports.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67912"/>
            <a:ext cx="1074420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95928"/>
            <a:ext cx="22860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D30"/>
                </a:solidFill>
                <a:latin typeface="Aptos"/>
              </a:rPr>
              <a:t>Police managers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995928"/>
            <a:ext cx="7543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A prioritized response queue with ownership and performance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71416"/>
            <a:ext cx="1074420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99432"/>
            <a:ext cx="22860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D30"/>
                </a:solidFill>
                <a:latin typeface="Aptos"/>
              </a:rPr>
              <a:t>Operators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599432"/>
            <a:ext cx="7543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Clear tasks, relevant location details, and a simple path to update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74920"/>
            <a:ext cx="1074420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02936"/>
            <a:ext cx="22860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D30"/>
                </a:solidFill>
                <a:latin typeface="Aptos"/>
              </a:rPr>
              <a:t>Senior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202936"/>
            <a:ext cx="7543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Evidence for service quality, resource planning, and improvement.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B6C7D"/>
                </a:solidFill>
                <a:latin typeface="Aptos"/>
              </a:rPr>
              <a:t>BIISHO  /  SMART SECURITY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C7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iisho Companylogo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6895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81F"/>
                </a:solidFill>
                <a:latin typeface="Aptos"/>
              </a:rPr>
              <a:t>09  /  WHY BIISHO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 Display"/>
              </a:rPr>
              <a:t>Designed around the moments that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987552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CE6EE"/>
                </a:solidFill>
                <a:latin typeface="Aptos"/>
              </a:rPr>
              <a:t>Biisho is more than an information system: it is an operating model for responsible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09728" cy="566928"/>
          </a:xfrm>
          <a:prstGeom prst="roundRect">
            <a:avLst>
              <a:gd name="adj" fmla="val 12000"/>
            </a:avLst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28803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Connected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148840"/>
            <a:ext cx="6492240" cy="301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BD8E3"/>
                </a:solidFill>
                <a:latin typeface="Aptos"/>
              </a:rPr>
              <a:t>The organization, location, alarm, response team, and outcome stay linked.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53512"/>
            <a:ext cx="109728" cy="566928"/>
          </a:xfrm>
          <a:prstGeom prst="roundRect">
            <a:avLst>
              <a:gd name="adj" fmla="val 12000"/>
            </a:avLst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953512"/>
            <a:ext cx="28803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Actionable by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953512"/>
            <a:ext cx="6492240" cy="301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BD8E3"/>
                </a:solidFill>
                <a:latin typeface="Aptos"/>
              </a:rPr>
              <a:t>The workflow is built to move incidents forward, not just display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58184"/>
            <a:ext cx="109728" cy="566928"/>
          </a:xfrm>
          <a:prstGeom prst="roundRect">
            <a:avLst>
              <a:gd name="adj" fmla="val 12000"/>
            </a:avLst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758184"/>
            <a:ext cx="28803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Clear at every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3758184"/>
            <a:ext cx="6492240" cy="301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BD8E3"/>
                </a:solidFill>
                <a:latin typeface="Aptos"/>
              </a:rPr>
              <a:t>Front-line users get detail; leaders get summaries, trends, and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562856"/>
            <a:ext cx="109728" cy="566928"/>
          </a:xfrm>
          <a:prstGeom prst="roundRect">
            <a:avLst>
              <a:gd name="adj" fmla="val 12000"/>
            </a:avLst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562856"/>
            <a:ext cx="28803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Built for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4562856"/>
            <a:ext cx="6492240" cy="3017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BD8E3"/>
                </a:solidFill>
                <a:latin typeface="Aptos"/>
              </a:rPr>
              <a:t>Access controls, validation, and structured records support responsible operations.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CDD7E0"/>
                </a:solidFill>
                <a:latin typeface="Aptos"/>
              </a:rPr>
              <a:t>BIISHO  /  SMART SECURITY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DD7E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iisho Companylogo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6895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81F"/>
                </a:solidFill>
                <a:latin typeface="Aptos"/>
              </a:rPr>
              <a:t>10  /  PATH TO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F1D30"/>
                </a:solidFill>
                <a:latin typeface="Aptos Display"/>
              </a:rPr>
              <a:t>Start focused. Scale with confidence.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987552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C7D"/>
                </a:solidFill>
                <a:latin typeface="Aptos"/>
              </a:rPr>
              <a:t>A practical rollout aligns the platform with the client’s locations, roles, procedures, and success measures.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2331720" cy="192024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2331720" cy="91440"/>
          </a:xfrm>
          <a:prstGeom prst="rect">
            <a:avLst/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7614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681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82112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D30"/>
                </a:solidFill>
                <a:latin typeface="Aptos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66160"/>
            <a:ext cx="1874519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Confirm priority companies, branches, users, and response stakeholders.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90672" y="3429000"/>
            <a:ext cx="365760" cy="0"/>
          </a:xfrm>
          <a:prstGeom prst="line">
            <a:avLst/>
          </a:prstGeom>
          <a:ln w="25400">
            <a:solidFill>
              <a:srgbClr val="F26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39" y="2468880"/>
            <a:ext cx="2331720" cy="192024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39" y="2468880"/>
            <a:ext cx="2331720" cy="91440"/>
          </a:xfrm>
          <a:prstGeom prst="rect">
            <a:avLst/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7" y="27614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681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7" y="3182112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D30"/>
                </a:solidFill>
                <a:latin typeface="Aptos"/>
              </a:rPr>
              <a:t>Configure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7" y="3566160"/>
            <a:ext cx="1874519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Set severity definitions, ownership rules, permissions, and reporting needs.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79592" y="3429000"/>
            <a:ext cx="365760" cy="0"/>
          </a:xfrm>
          <a:prstGeom prst="line">
            <a:avLst/>
          </a:prstGeom>
          <a:ln w="25400">
            <a:solidFill>
              <a:srgbClr val="F26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59" y="2468880"/>
            <a:ext cx="2331720" cy="192024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2468880"/>
            <a:ext cx="2331720" cy="91440"/>
          </a:xfrm>
          <a:prstGeom prst="rect">
            <a:avLst/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7" y="27614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681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7" y="3182112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D30"/>
                </a:solidFill>
                <a:latin typeface="Aptos"/>
              </a:rPr>
              <a:t>Activate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7" y="3566160"/>
            <a:ext cx="1874519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Onboard teams, establish operating routines, and begin live incident tracking.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68512" y="3429000"/>
            <a:ext cx="365760" cy="0"/>
          </a:xfrm>
          <a:prstGeom prst="line">
            <a:avLst/>
          </a:prstGeom>
          <a:ln w="25400">
            <a:solidFill>
              <a:srgbClr val="F26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98280" y="2468880"/>
            <a:ext cx="2331720" cy="192024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2468880"/>
            <a:ext cx="2331720" cy="91440"/>
          </a:xfrm>
          <a:prstGeom prst="rect">
            <a:avLst/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27614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681F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3182112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D30"/>
                </a:solidFill>
                <a:latin typeface="Aptos"/>
              </a:rPr>
              <a:t>Improve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3566160"/>
            <a:ext cx="1874519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D"/>
                </a:solidFill>
                <a:latin typeface="Aptos"/>
              </a:rPr>
              <a:t>Review performance, learn from trends, and expand coverage over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074920"/>
            <a:ext cx="1060704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F1D30"/>
                </a:solidFill>
                <a:latin typeface="Aptos Display"/>
              </a:rPr>
              <a:t>The goal is not just better software. It is better readiness, response, and trust.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B6C7D"/>
                </a:solidFill>
                <a:latin typeface="Aptos"/>
              </a:rPr>
              <a:t>BIISHO  /  SMART SECURITY OPERATIONS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C7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F2681F"/>
          </a:solidFill>
          <a:ln>
            <a:solidFill>
              <a:srgbClr val="F26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iisho Companylogo -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2920"/>
            <a:ext cx="1828800" cy="10214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64008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BC97"/>
                </a:solidFill>
                <a:latin typeface="Aptos"/>
              </a:rPr>
              <a:t>The promise is simple.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7863840" cy="20116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 Display"/>
              </a:rPr>
              <a:t>Help the right people
see the right incident,
act with the right context,
and close the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53035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0DCE6"/>
                </a:solidFill>
                <a:latin typeface="Aptos"/>
              </a:rPr>
              <a:t>Biisho Company  /  Smart security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5074920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>
                <a:solidFill>
                  <a:srgbClr val="F2681F"/>
                </a:solidFill>
                <a:latin typeface="Aptos"/>
              </a:rPr>
              <a:t>BIISHO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CDD7E0"/>
                </a:solidFill>
                <a:latin typeface="Aptos"/>
              </a:rPr>
              <a:t>BIISHO  /  SMART SECURITY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DD7E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Biisho Company Pitch Deck</dc:title>
  <dc:subject>Smart Security Operations Platform</dc:subject>
  <dc:creator>Biisho Company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